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COMPUTER ORGANIZATION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91A0B2"/>
                </a:solidFill>
                <a:latin typeface="Aptos"/>
              </a:rPr>
              <a:t>DESIGN AND SIMULATION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2F6FA"/>
                </a:solidFill>
                <a:latin typeface="Aptos Display"/>
              </a:rPr>
              <a:t>8-BIT SIGNED BINARY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84831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2F6FA"/>
                </a:solidFill>
                <a:latin typeface="Aptos Display"/>
              </a:rPr>
              <a:t>NUMBER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88336"/>
            <a:ext cx="749807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B837"/>
                </a:solidFill>
                <a:latin typeface="Aptos Display"/>
              </a:rPr>
              <a:t>USING ONE'S COMPLEMENT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401568"/>
            <a:ext cx="3794760" cy="65836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575304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3493008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0E0FF"/>
                </a:solidFill>
                <a:latin typeface="Aptos"/>
              </a:rPr>
              <a:t>LOGISIM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713232"/>
            <a:ext cx="3566160" cy="5230368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98755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B837"/>
                </a:solidFill>
                <a:latin typeface="Aptos"/>
              </a:rPr>
              <a:t>PROJECT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5448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YUVA NAYAN NARRA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65376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0E0FF"/>
                </a:solidFill>
                <a:latin typeface="Aptos"/>
              </a:rPr>
              <a:t>Roll No: 2620030243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04872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SANJANA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15768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0E0FF"/>
                </a:solidFill>
                <a:latin typeface="Aptos"/>
              </a:rPr>
              <a:t>Roll No: 2620030234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55264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SAMALA RUCHITHA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6616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0E0FF"/>
                </a:solidFill>
                <a:latin typeface="Aptos"/>
              </a:rPr>
              <a:t>Roll No: 2620030235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105656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SREEVALLI DEVARAI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1655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0E0FF"/>
                </a:solidFill>
                <a:latin typeface="Aptos"/>
              </a:rPr>
              <a:t>Roll No: 2620030266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1A0B2"/>
                </a:solidFill>
                <a:latin typeface="Aptos"/>
              </a:rPr>
              <a:t>8 BIT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0E0FF"/>
                </a:solidFill>
                <a:latin typeface="Aptos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84831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84831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B837"/>
                </a:solidFill>
                <a:latin typeface="Aptos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15184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15184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0E0FF"/>
                </a:solidFill>
                <a:latin typeface="Aptos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45535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45535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B837"/>
                </a:solidFill>
                <a:latin typeface="Aptos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75887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75887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0E0FF"/>
                </a:solidFill>
                <a:latin typeface="Aptos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0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B837"/>
                </a:solidFill>
                <a:latin typeface="Aptos"/>
              </a:rP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6592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36592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0E0FF"/>
                </a:solidFill>
                <a:latin typeface="Aptos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66944" y="5010912"/>
            <a:ext cx="384048" cy="384048"/>
          </a:xfrm>
          <a:prstGeom prst="roundRect">
            <a:avLst/>
          </a:prstGeom>
          <a:solidFill>
            <a:srgbClr val="0B121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66944" y="5065776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B837"/>
                </a:solidFill>
                <a:latin typeface="Apto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01 •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Why Do Computers Need Signed Numbers?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6675120" cy="4526280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1A0B2"/>
                </a:solidFill>
                <a:latin typeface="Aptos"/>
              </a:rPr>
              <a:t>8-BIT 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B837"/>
                </a:solidFill>
                <a:latin typeface="Aptos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18488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E0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76856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76856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E0FF"/>
                </a:solidFill>
                <a:latin typeface="Aptos"/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5224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5224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E0FF"/>
                </a:solidFill>
                <a:latin typeface="Aptos"/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3591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1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E0FF"/>
                </a:solidFill>
                <a:latin typeface="Aptos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59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E0FF"/>
                </a:solidFill>
                <a:latin typeface="Apto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0328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0328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E0FF"/>
                </a:solidFill>
                <a:latin typeface="Aptos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68696" y="2240280"/>
            <a:ext cx="530352" cy="530352"/>
          </a:xfrm>
          <a:prstGeom prst="roundRect">
            <a:avLst/>
          </a:prstGeom>
          <a:solidFill>
            <a:srgbClr val="0A1118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68696" y="234086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E0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926080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37"/>
                </a:solidFill>
                <a:latin typeface="Aptos"/>
              </a:rPr>
              <a:t>MSB / 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52044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0E0FF"/>
                </a:solidFill>
                <a:latin typeface="Aptos"/>
              </a:rPr>
              <a:t>0 → positive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52044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B837"/>
                </a:solidFill>
                <a:latin typeface="Aptos"/>
              </a:rPr>
              <a:t>1 → negative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9768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F6FA"/>
                </a:solidFill>
                <a:latin typeface="Aptos"/>
              </a:rPr>
              <a:t>Remaining bits → value information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417320"/>
            <a:ext cx="3886200" cy="4526280"/>
          </a:xfrm>
          <a:prstGeom prst="roundRect">
            <a:avLst/>
          </a:prstGeom>
          <a:solidFill>
            <a:srgbClr val="16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73568" y="178308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B837"/>
                </a:solidFill>
                <a:latin typeface="Aptos"/>
              </a:rPr>
              <a:t>CORE IDEA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331720"/>
            <a:ext cx="3063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Unsigned binary cannot represent values below zero.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3154680"/>
            <a:ext cx="30632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1A0B2"/>
                </a:solidFill>
                <a:latin typeface="Aptos"/>
              </a:rPr>
              <a:t>Signed representation adds a way to encode the sign while keeping the word fixed at 8 bits.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800600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0E0FF"/>
                </a:solidFill>
                <a:latin typeface="Aptos"/>
              </a:rPr>
              <a:t>Presenter cue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0749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6FA"/>
                </a:solidFill>
                <a:latin typeface="Aptos"/>
              </a:rPr>
              <a:t>“The same 8 bits must tell the hardware both the value and its sign.”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50992" y="4617720"/>
            <a:ext cx="1325880" cy="77724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50992" y="4736592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B837"/>
                </a:solidFill>
                <a:latin typeface="Aptos"/>
              </a:rPr>
              <a:t>MSB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4992624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2F6FA"/>
                </a:solidFill>
                <a:latin typeface="Aptos"/>
              </a:rPr>
              <a:t>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02 • 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One's Complement = Bit Inversion</a:t>
            </a:r>
          </a:p>
        </p:txBody>
      </p:sp>
      <p:pic>
        <p:nvPicPr>
          <p:cNvPr id="5" name="Picture 4" descr="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73152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353312"/>
            <a:ext cx="3291840" cy="448056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49640" y="1719072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B837"/>
                </a:solidFill>
                <a:latin typeface="Aptos"/>
              </a:rPr>
              <a:t>KEY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4028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2F6FA"/>
                </a:solidFill>
                <a:latin typeface="Aptos"/>
              </a:rPr>
              <a:t>Negative = NOT(Positive)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324612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1A0B2"/>
                </a:solidFill>
                <a:latin typeface="Aptos"/>
              </a:rPr>
              <a:t>8-bit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1188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E0FF"/>
                </a:solidFill>
                <a:latin typeface="Aptos"/>
              </a:rPr>
              <a:t>−127  to  +127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25196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0E0FF"/>
                </a:solidFill>
                <a:latin typeface="Aptos"/>
              </a:rPr>
              <a:t>+0 = 00000000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61772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B837"/>
                </a:solidFill>
                <a:latin typeface="Aptos"/>
              </a:rPr>
              <a:t>−0 = 11111111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03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From Mathematics to Logic Gates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7680960" cy="43159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371600"/>
            <a:ext cx="2971800" cy="4315968"/>
          </a:xfrm>
          <a:prstGeom prst="roundRect">
            <a:avLst/>
          </a:prstGeom>
          <a:solidFill>
            <a:srgbClr val="16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171907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B837"/>
                </a:solidFill>
                <a:latin typeface="Aptos"/>
              </a:rPr>
              <a:t>DESIGN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24028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E0FF"/>
                </a:solidFill>
                <a:latin typeface="Aptos"/>
              </a:rPr>
              <a:t>8-bit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48716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1A0B2"/>
                </a:solidFill>
                <a:latin typeface="Aptos"/>
              </a:rPr>
              <a:t>Parallel data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95351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E0FF"/>
                </a:solidFill>
                <a:latin typeface="Aptos"/>
              </a:rPr>
              <a:t>XOR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20040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1A0B2"/>
                </a:solidFill>
                <a:latin typeface="Aptos"/>
              </a:rPr>
              <a:t>Conditional inversion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666744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E0FF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913631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1A0B2"/>
                </a:solidFill>
                <a:latin typeface="Aptos"/>
              </a:rPr>
              <a:t>0 = pass • 1 = invert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379976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E0FF"/>
                </a:solidFill>
                <a:latin typeface="Aptos"/>
              </a:rPr>
              <a:t>8-bit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2686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1A0B2"/>
                </a:solidFill>
                <a:latin typeface="Aptos"/>
              </a:rPr>
              <a:t>Verified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23036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Y[i] = X[i] XOR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04 • LOGISIM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Project Implementation in Logisim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8275320" cy="4736592"/>
          </a:xfrm>
          <a:prstGeom prst="roundRect">
            <a:avLst/>
          </a:prstGeom>
          <a:solidFill>
            <a:srgbClr val="0C121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1A0B2"/>
                </a:solidFill>
                <a:latin typeface="Aptos"/>
              </a:rPr>
              <a:t>Logisim-style simulation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417320" cy="169164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1417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E0FF"/>
                </a:solidFill>
                <a:latin typeface="Aptos"/>
              </a:rPr>
              <a:t>8-BIT</a:t>
            </a:r>
            <a:br/>
            <a: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057400"/>
            <a:ext cx="3063240" cy="2240280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2697480"/>
            <a:ext cx="3063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B837"/>
                </a:solidFill>
                <a:latin typeface="Aptos"/>
              </a:rPr>
              <a:t>XOR / NOT</a:t>
            </a:r>
            <a:br/>
            <a:r>
              <a:t>ARRAY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331720"/>
            <a:ext cx="1417320" cy="169164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2816352"/>
            <a:ext cx="1417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E0FF"/>
                </a:solidFill>
                <a:latin typeface="Aptos"/>
              </a:rPr>
              <a:t>8-BIT</a:t>
            </a:r>
            <a:br/>
            <a:r>
              <a:t>OUTPUT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257860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257860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276148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26480" y="276148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31720" y="294436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6480" y="294436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31720" y="312724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26480" y="312724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331012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31012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349300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26480" y="349300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31720" y="3675887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80" y="3675887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385876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26480" y="3858768"/>
            <a:ext cx="731520" cy="0"/>
          </a:xfrm>
          <a:prstGeom prst="line">
            <a:avLst/>
          </a:prstGeom>
          <a:ln w="19050">
            <a:solidFill>
              <a:srgbClr val="3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783080"/>
            <a:ext cx="0" cy="274320"/>
          </a:xfrm>
          <a:prstGeom prst="line">
            <a:avLst/>
          </a:prstGeom>
          <a:ln w="31750">
            <a:solidFill>
              <a:srgbClr val="FFB8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60520" y="1536192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B837"/>
                </a:solidFill>
                <a:latin typeface="Aptos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F6FA"/>
                </a:solidFill>
                <a:latin typeface="Aptos"/>
              </a:rPr>
              <a:t>Example input: 00000101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6177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B837"/>
                </a:solidFill>
                <a:latin typeface="Aptos"/>
              </a:rPr>
              <a:t>Expected: 11111010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61772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6E6A0"/>
                </a:solidFill>
                <a:latin typeface="Aptos"/>
              </a:rPr>
              <a:t>OUTPUT: 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1353312"/>
            <a:ext cx="2331720" cy="4736592"/>
          </a:xfrm>
          <a:prstGeom prst="roundRect">
            <a:avLst/>
          </a:prstGeom>
          <a:solidFill>
            <a:srgbClr val="16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64040" y="17373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B837"/>
                </a:solidFill>
                <a:latin typeface="Aptos"/>
              </a:rPr>
              <a:t>BUILD WITH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286000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6FA"/>
                </a:solidFill>
                <a:latin typeface="Aptos"/>
              </a:rPr>
              <a:t>• Input Pins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2816352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6FA"/>
                </a:solidFill>
                <a:latin typeface="Aptos"/>
              </a:rPr>
              <a:t>• XOR / NOT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346704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6FA"/>
                </a:solidFill>
                <a:latin typeface="Aptos"/>
              </a:rPr>
              <a:t>• Output Probes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87705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6FA"/>
                </a:solidFill>
                <a:latin typeface="Aptos"/>
              </a:rPr>
              <a:t>• Hex Display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407408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6FA"/>
                </a:solidFill>
                <a:latin typeface="Aptos"/>
              </a:rPr>
              <a:t>• Control 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5120640"/>
            <a:ext cx="1783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1A0B2"/>
                </a:solidFill>
                <a:latin typeface="Aptos"/>
              </a:rPr>
              <a:t>Take a real Logisim screenshot and replace the schematic mockup here before submission.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1353312"/>
            <a:ext cx="2423160" cy="4736592"/>
          </a:xfrm>
          <a:prstGeom prst="roundRect">
            <a:avLst/>
          </a:prstGeom>
          <a:solidFill>
            <a:srgbClr val="080C12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08592" y="1609344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B837"/>
                </a:solidFill>
                <a:latin typeface="Aptos"/>
              </a:rPr>
              <a:t>REAL LOGISIM 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98863" y="1938528"/>
            <a:ext cx="2231136" cy="207568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1993392"/>
            <a:ext cx="2121408" cy="19659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4160520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1A0B2"/>
                </a:solidFill>
                <a:latin typeface="Aptos"/>
              </a:rPr>
              <a:t>Interface reference:</a:t>
            </a:r>
            <a:br/>
            <a:r>
              <a:t>component library + circuit canvas + simulation controls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16636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2F6FA"/>
                </a:solidFill>
                <a:latin typeface="Aptos"/>
              </a:rPr>
              <a:t>Use your own circuit screenshot here after implementation.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" y="5486400"/>
            <a:ext cx="3886200" cy="38404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7552" y="5550408"/>
            <a:ext cx="3703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0E0FF"/>
                </a:solidFill>
                <a:latin typeface="Aptos"/>
              </a:rPr>
              <a:t>VISUAL EVIDENCE • CIRCUIT +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05 •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Simulation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371600" cy="47548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0E0FF"/>
                </a:solidFill>
                <a:latin typeface="Aptos"/>
              </a:rP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3976" y="1417320"/>
            <a:ext cx="2331720" cy="47548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93976" y="1508760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0E0FF"/>
                </a:solidFill>
                <a:latin typeface="Aptos"/>
              </a:rPr>
              <a:t>8-BIT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9704" y="1417320"/>
            <a:ext cx="2834640" cy="47548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150876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0E0FF"/>
                </a:solidFill>
                <a:latin typeface="Aptos"/>
              </a:rPr>
              <a:t>1'S COMPLEMENT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88352" y="1417320"/>
            <a:ext cx="1188720" cy="47548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88352" y="1508760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0E0FF"/>
                </a:solidFill>
                <a:latin typeface="Aptos"/>
              </a:rPr>
              <a:t>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84248"/>
            <a:ext cx="137160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093976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+5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93976" y="1984248"/>
            <a:ext cx="2331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93976" y="2093976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00000101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9704" y="1984248"/>
            <a:ext cx="283464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9704" y="2093976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B837"/>
                </a:solidFill>
                <a:latin typeface="Aptos"/>
              </a:rPr>
              <a:t>11111010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1984248"/>
            <a:ext cx="1188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46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2093976"/>
            <a:ext cx="1188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6E6A0"/>
                </a:solidFill>
                <a:latin typeface="Aptos"/>
              </a:rPr>
              <a:t>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606040"/>
            <a:ext cx="137160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7157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+12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93976" y="2606040"/>
            <a:ext cx="2331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93976" y="2715768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00001100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9704" y="2606040"/>
            <a:ext cx="283464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9704" y="2715768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B837"/>
                </a:solidFill>
                <a:latin typeface="Aptos"/>
              </a:rPr>
              <a:t>11110011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8352" y="2606040"/>
            <a:ext cx="1188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46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88352" y="2715768"/>
            <a:ext cx="1188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6E6A0"/>
                </a:solidFill>
                <a:latin typeface="Aptos"/>
              </a:rP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227832"/>
            <a:ext cx="137160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333756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+25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93976" y="3227832"/>
            <a:ext cx="2331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93976" y="3337560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00011001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9704" y="3227832"/>
            <a:ext cx="283464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9704" y="3337560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B837"/>
                </a:solidFill>
                <a:latin typeface="Aptos"/>
              </a:rPr>
              <a:t>11100110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88352" y="3227832"/>
            <a:ext cx="1188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46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8352" y="3337560"/>
            <a:ext cx="1188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6E6A0"/>
                </a:solidFill>
                <a:latin typeface="Aptos"/>
              </a:rPr>
              <a:t>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849624"/>
            <a:ext cx="137160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3959352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+127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93976" y="3849624"/>
            <a:ext cx="2331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93976" y="3959352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01111111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9704" y="3849624"/>
            <a:ext cx="283464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4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89704" y="3959352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B837"/>
                </a:solidFill>
                <a:latin typeface="Aptos"/>
              </a:rPr>
              <a:t>10000000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88352" y="3849624"/>
            <a:ext cx="1188720" cy="530352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46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88352" y="3959352"/>
            <a:ext cx="1188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6E6A0"/>
                </a:solidFill>
                <a:latin typeface="Aptos"/>
              </a:rPr>
              <a:t>PASS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11312" y="1417320"/>
            <a:ext cx="3310128" cy="431596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22208" y="173736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B837"/>
                </a:solidFill>
                <a:latin typeface="Aptos"/>
              </a:rPr>
              <a:t>VERIFICATION LOGIC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22208" y="233172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1A0B2"/>
                </a:solidFill>
                <a:latin typeface="Aptos"/>
              </a:rPr>
              <a:t>Expected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274320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2F6FA"/>
                </a:solidFill>
                <a:latin typeface="Aptos"/>
              </a:rPr>
              <a:t>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3182112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1A0B2"/>
                </a:solidFill>
                <a:latin typeface="Aptos"/>
              </a:rPr>
              <a:t>Logisim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22208" y="388620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46E6A0"/>
                </a:solidFill>
                <a:latin typeface="Aptos"/>
              </a:rPr>
              <a:t>✓  PASS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2208" y="47091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2F6FA"/>
                </a:solidFill>
                <a:latin typeface="Aptos"/>
              </a:rPr>
              <a:t>Test multiple values before final demo.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56448" y="4535424"/>
            <a:ext cx="3355848" cy="1188719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4590288"/>
            <a:ext cx="3246120" cy="107899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275320" y="5687568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1A0B2"/>
                </a:solidFill>
                <a:latin typeface="Aptos"/>
              </a:rPr>
              <a:t>Logisim simulation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06 •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The Dual-Zero Dilemma</a:t>
            </a:r>
          </a:p>
        </p:txBody>
      </p:sp>
      <p:pic>
        <p:nvPicPr>
          <p:cNvPr id="5" name="Picture 4" descr="dual_z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7498079" cy="43159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353312"/>
            <a:ext cx="3108960" cy="4315968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32520" y="171907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B837"/>
                </a:solidFill>
                <a:latin typeface="Aptos"/>
              </a:rPr>
              <a:t>WHY IT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267712"/>
            <a:ext cx="23774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2F6FA"/>
                </a:solidFill>
                <a:latin typeface="Aptos"/>
              </a:rPr>
              <a:t>Inversion maps every 0 to 1 and every 1 to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21868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1A0B2"/>
                </a:solidFill>
                <a:latin typeface="Aptos"/>
              </a:rPr>
              <a:t>Therefore: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58444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B837"/>
                </a:solidFill>
                <a:latin typeface="Aptos"/>
              </a:rPr>
              <a:t>00000000 → 11111111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133087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F6FA"/>
                </a:solidFill>
                <a:latin typeface="Aptos"/>
              </a:rPr>
              <a:t>Both encode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736592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1A0B2"/>
                </a:solidFill>
                <a:latin typeface="Aptos"/>
              </a:rPr>
              <a:t>Engineering impact: arithmetic needs extra handling.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07 •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One's Complement vs. Two's Complement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5257800" cy="4617720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6208" y="1371600"/>
            <a:ext cx="5285232" cy="461772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E0FF"/>
                </a:solidFill>
                <a:latin typeface="Aptos"/>
              </a:rPr>
              <a:t>ONE'S COMPLEMENT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19072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B837"/>
                </a:solidFill>
                <a:latin typeface="Aptos"/>
              </a:rPr>
              <a:t>TWO'S COMPLEMENT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04288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04288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Invert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304288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04288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Invert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962656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62656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Two representations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962656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62656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One representation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21024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8-bit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621024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−127 … +127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621024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8-bit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21024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−128 … +127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27939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Addition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279392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End-around carry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27939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Addition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79392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No end-around carry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937759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937759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Simple inversion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937759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1A0B2"/>
                </a:solidFill>
                <a:latin typeface="Aptos"/>
              </a:rPr>
              <a:t>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937759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Adder + inversion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44068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B837"/>
                </a:solidFill>
                <a:latin typeface="Aptos"/>
              </a:rPr>
              <a:t>Project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404104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0E0FF"/>
                </a:solidFill>
                <a:latin typeface="Aptos"/>
              </a:rPr>
              <a:t>Understand → implement → verify → 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44068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B837"/>
                </a:solidFill>
                <a:latin typeface="Aptos"/>
              </a:rPr>
              <a:t>Future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404104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B837"/>
                </a:solidFill>
                <a:latin typeface="Aptos"/>
              </a:rPr>
              <a:t>Extend the same design toward 2's complement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3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E0FF"/>
                </a:solidFill>
                <a:latin typeface="Aptos"/>
              </a:rPr>
              <a:t>08 •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2F6FA"/>
                </a:solidFill>
                <a:latin typeface="Aptos Display"/>
              </a:rPr>
              <a:t>Conclusion &amp; Project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2670048" cy="196596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3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68249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2F6FA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221992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1A0B2"/>
                </a:solidFill>
                <a:latin typeface="Aptos"/>
              </a:rPr>
              <a:t>Signed 8-bit representation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81328"/>
            <a:ext cx="2670048" cy="196596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71907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3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8249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2F6FA"/>
                </a:solidFill>
                <a:latin typeface="Aptos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21992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1A0B2"/>
                </a:solidFill>
                <a:latin typeface="Aptos"/>
              </a:rPr>
              <a:t>Parallel inversion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81328"/>
            <a:ext cx="2670048" cy="196596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3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71907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3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68249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2F6FA"/>
                </a:solidFill>
                <a:latin typeface="Aptos"/>
              </a:rPr>
              <a:t>SIMULATE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2221992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1A0B2"/>
                </a:solidFill>
                <a:latin typeface="Aptos"/>
              </a:rPr>
              <a:t>Logisim circuit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1481328"/>
            <a:ext cx="2670048" cy="1965960"/>
          </a:xfrm>
          <a:prstGeom prst="roundRect">
            <a:avLst/>
          </a:prstGeom>
          <a:solidFill>
            <a:srgbClr val="161E29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0304" y="171907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3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3224" y="168249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2F6FA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2221992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1A0B2"/>
                </a:solidFill>
                <a:latin typeface="Aptos"/>
              </a:rPr>
              <a:t>Dual zero + trade-offs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31920"/>
            <a:ext cx="10378440" cy="1298448"/>
          </a:xfrm>
          <a:prstGeom prst="roundRect">
            <a:avLst/>
          </a:prstGeom>
          <a:solidFill>
            <a:srgbClr val="121922"/>
          </a:solidFill>
          <a:ln w="15240">
            <a:solidFill>
              <a:srgbClr val="FFB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22452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37"/>
                </a:solidFill>
                <a:latin typeface="Aptos"/>
              </a:rPr>
              <a:t>FINAL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096512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2F6FA"/>
                </a:solidFill>
                <a:latin typeface="Aptos"/>
              </a:rPr>
              <a:t>A simple bit-level rule can be translated directly into parallel digital hardware.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40680"/>
            <a:ext cx="8503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0E0FF"/>
                </a:solidFill>
                <a:latin typeface="Aptos"/>
              </a:rPr>
              <a:t>ONE'S COMPLEMENT  →  LOGIC GATES  →  LOGISIM  →  VERIFIED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833872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E0FF"/>
                </a:solidFill>
                <a:latin typeface="Aptos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1A0B2"/>
                </a:solidFill>
                <a:latin typeface="Aptos"/>
              </a:rPr>
              <a:t>COA • DIGITAL LOGIC • LOGISIM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1A0B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586</Words>
  <Application>Microsoft Office PowerPoint</Application>
  <PresentationFormat>Widescreen</PresentationFormat>
  <Paragraphs>189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Ruchitha</dc:creator>
  <cp:keywords/>
  <dc:description>generated using python-pptx</dc:description>
  <cp:lastModifiedBy>samalaruchitha6@outlook.com</cp:lastModifiedBy>
  <cp:revision>1</cp:revision>
  <dcterms:created xsi:type="dcterms:W3CDTF">2013-01-27T09:14:16Z</dcterms:created>
  <dcterms:modified xsi:type="dcterms:W3CDTF">2026-09-21T04:04:51Z</dcterms:modified>
  <cp:category/>
</cp:coreProperties>
</file>